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332B"/>
                </a:solidFill>
                <a:latin typeface="Calibri"/>
              </a:defRPr>
            </a:pPr>
            <a:r>
              <a:rPr lang="en-ID" sz="1200" b="0" i="0" u="none" strike="noStrike">
                <a:solidFill>
                  <a:srgbClr val="22332B"/>
                </a:solidFill>
                <a:latin typeface="Calibri"/>
              </a:rPr>
              <a:t>MAE pada data uji (Rp/kg, makin kecil makin baik)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(Rp/kg)</c:v>
                </c:pt>
              </c:strCache>
            </c:strRef>
          </c:tx>
          <c:spPr>
            <a:solidFill>
              <a:srgbClr val="9AA9A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AA9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97F-4703-A987-0D85D9DC40FB}"/>
              </c:ext>
            </c:extLst>
          </c:dPt>
          <c:dPt>
            <c:idx val="1"/>
            <c:invertIfNegative val="0"/>
            <c:bubble3D val="0"/>
            <c:spPr>
              <a:solidFill>
                <a:srgbClr val="9AA9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7F-4703-A987-0D85D9DC40FB}"/>
              </c:ext>
            </c:extLst>
          </c:dPt>
          <c:dPt>
            <c:idx val="2"/>
            <c:invertIfNegative val="0"/>
            <c:bubble3D val="0"/>
            <c:spPr>
              <a:solidFill>
                <a:srgbClr val="9AA9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7F-4703-A987-0D85D9DC40FB}"/>
              </c:ext>
            </c:extLst>
          </c:dPt>
          <c:dPt>
            <c:idx val="3"/>
            <c:invertIfNegative val="0"/>
            <c:bubble3D val="0"/>
            <c:spPr>
              <a:solidFill>
                <a:srgbClr val="1F4D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97F-4703-A987-0D85D9DC40F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33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Ridge</c:v>
                </c:pt>
                <c:pt idx="2">
                  <c:v>Random Forest</c:v>
                </c:pt>
                <c:pt idx="3">
                  <c:v>Gradient 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98.56</c:v>
                </c:pt>
                <c:pt idx="1">
                  <c:v>88.46</c:v>
                </c:pt>
                <c:pt idx="2">
                  <c:v>79.98</c:v>
                </c:pt>
                <c:pt idx="3">
                  <c:v>74.44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97F-4703-A987-0D85D9DC40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3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48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822960"/>
            <a:ext cx="3840480" cy="384048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7589520" y="3017520"/>
            <a:ext cx="2377440" cy="23774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Arial" panose="020B0604020202020204" pitchFamily="34" charset="0"/>
              </a:rPr>
              <a:t>Prediksi Harga Beras Indonesia dengan Machine Learning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Ridge Regression, Random Forest, dan Gradient Boosting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bulanan 2010 –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dan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beras memiliki tren naik dan dipengaruhi banyak faktor, sehingga sulit ditebak.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memprediksi harga beras bulan berikutnya (Rp/kg).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harus lebih baik dari baseline sederhana: harga bulan ini = harga bulan lalu.</a:t>
            </a:r>
            <a:endParaRPr lang="en-US" sz="1400" dirty="0"/>
          </a:p>
        </p:txBody>
      </p:sp>
      <p:pic>
        <p:nvPicPr>
          <p:cNvPr id="4" name="Image 0" descr="img/tr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4023360" cy="15821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66344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beras per bulan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34290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 bulanan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34290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2010–2026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waktu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4290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data awal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66560" y="34290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4944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untuk model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dan Metodologi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Pembersihan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bernilai 1 (2010–2015) dianggap placeholder, diubah ke 0 dan diberi penanda Stok_Tersedia.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417320"/>
            <a:ext cx="457200" cy="45720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4231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siklis (sin/cos), musim one-hot, selisih 2 bulan, rata-rata 3 bulan, rasio gabah GKG ke beras.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Berdasarkan Waktu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231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159 baris (2010–2023), uji 39 baris (2023–2026). Tidak diacak agar tanpa kebocoran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28016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417320"/>
            <a:ext cx="457200" cy="45720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Model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4231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dengan TimeSeriesSplit (5 lipatan), skor MAE, pada 3 model.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log-return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(perubahan harga terhadap bulan lalu) lalu dikonversi ke Rupiah, karena model berbasis pohon tidak bisa memprediksi di luar rentang data latih.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Menjadi Model Terbaik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540910876"/>
              </p:ext>
            </p:extLst>
          </p:nvPr>
        </p:nvGraphicFramePr>
        <p:xfrm>
          <a:off x="457200" y="118872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280160"/>
            <a:ext cx="2926080" cy="3383280"/>
          </a:xfrm>
          <a:prstGeom prst="roundRect">
            <a:avLst>
              <a:gd name="adj" fmla="val 3750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lebih rendah dari baseline (74,44 vs 98,56)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0,52%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pada data uji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3794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terbaik: learning_rate 0,03, max_depth 2, 100 pohon.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Prediksi Mengikuti Pola Harga Aktual</a:t>
            </a:r>
            <a:endParaRPr lang="en-US" sz="2800" dirty="0"/>
          </a:p>
        </p:txBody>
      </p:sp>
      <p:pic>
        <p:nvPicPr>
          <p:cNvPr id="3" name="Image 0" descr="img/ak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2713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uji: Juli 2023 – September 2026 (39 bulan)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766560" y="128016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74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selisih (MAE) per kg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27432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sama-sama 0,99 pada baseline, jadi MAE dan MAPE lebih informatif.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yang Paling Berpengaruh</a:t>
            </a:r>
            <a:endParaRPr lang="en-US" sz="2800" dirty="0"/>
          </a:p>
        </p:txBody>
      </p:sp>
      <p:pic>
        <p:nvPicPr>
          <p:cNvPr id="3" name="Image 0" descr="img/fit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389120" cy="327380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37160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2 bulan dan rasio gabah GKG ke beras dominan, masing-masing sekitar 0,34.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harga dan hubungan gabah–beras lebih menentukan daripada cuaca dan musim.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eksplorasi, harga gabah, kurs, dan BBM berkorelasi tinggi (0,95–0,97) dengan harga beras.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terbaik: MAE Rp 74 dan MAPE 0,52%, mengalahkan baseline dan dua model lain.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log-return dan split berdasarkan waktu membuat evaluasi lebih realistis.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data stok 2010–2015 perlu dicek ke sumber asli, dan prediksi bulan depan bergantung pada input yang diisi.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371600"/>
            <a:ext cx="3108960" cy="2926080"/>
          </a:xfrm>
          <a:prstGeom prst="roundRect">
            <a:avLst>
              <a:gd name="adj" fmla="val 4688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80644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prediksi Oktober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15.833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2834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kg, berdasarkan nilai input contoh pada notebook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425</Words>
  <Application>Microsoft Office PowerPoint</Application>
  <PresentationFormat>On-screen Show (16:9)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Prediksi Harga Beras Indonesia dengan Machine Learning</dc:title>
  <dc:subject>PptxGenJS Presentation</dc:subject>
  <dc:creator>PptxGenJS</dc:creator>
  <cp:lastModifiedBy>AINUL YAKIN</cp:lastModifiedBy>
  <cp:revision>2</cp:revision>
  <dcterms:created xsi:type="dcterms:W3CDTF">2026-09-28T15:06:47Z</dcterms:created>
  <dcterms:modified xsi:type="dcterms:W3CDTF">2026-09-28T15:18:11Z</dcterms:modified>
</cp:coreProperties>
</file>